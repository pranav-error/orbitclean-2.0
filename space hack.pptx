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et" charset="1" panose="00000000000000000000"/>
      <p:regular r:id="rId13"/>
    </p:embeddedFont>
    <p:embeddedFont>
      <p:font typeface="Garet Bold" charset="1" panose="00000000000000000000"/>
      <p:regular r:id="rId14"/>
    </p:embeddedFont>
    <p:embeddedFont>
      <p:font typeface="Open Sans Bold" charset="1" panose="00000000000000000000"/>
      <p:regular r:id="rId15"/>
    </p:embeddedFont>
    <p:embeddedFont>
      <p:font typeface="Open Sans" charset="1" panose="000000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26784" y="8815522"/>
            <a:ext cx="1432516" cy="442778"/>
          </a:xfrm>
          <a:custGeom>
            <a:avLst/>
            <a:gdLst/>
            <a:ahLst/>
            <a:cxnLst/>
            <a:rect r="r" b="b" t="t" l="l"/>
            <a:pathLst>
              <a:path h="442778" w="1432516">
                <a:moveTo>
                  <a:pt x="0" y="0"/>
                </a:moveTo>
                <a:lnTo>
                  <a:pt x="1432516" y="0"/>
                </a:lnTo>
                <a:lnTo>
                  <a:pt x="1432516" y="442778"/>
                </a:lnTo>
                <a:lnTo>
                  <a:pt x="0" y="442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05335"/>
            <a:ext cx="4799634" cy="762062"/>
            <a:chOff x="0" y="0"/>
            <a:chExt cx="6399512" cy="101608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399512" cy="1016082"/>
              <a:chOff x="0" y="0"/>
              <a:chExt cx="1264101" cy="20070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64101" cy="200708"/>
              </a:xfrm>
              <a:custGeom>
                <a:avLst/>
                <a:gdLst/>
                <a:ahLst/>
                <a:cxnLst/>
                <a:rect r="r" b="b" t="t" l="l"/>
                <a:pathLst>
                  <a:path h="200708" w="1264101">
                    <a:moveTo>
                      <a:pt x="0" y="0"/>
                    </a:moveTo>
                    <a:lnTo>
                      <a:pt x="1264101" y="0"/>
                    </a:lnTo>
                    <a:lnTo>
                      <a:pt x="1264101" y="200708"/>
                    </a:lnTo>
                    <a:lnTo>
                      <a:pt x="0" y="20070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264101" cy="2388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13921" y="177885"/>
              <a:ext cx="6171671" cy="641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6"/>
                </a:lnSpc>
              </a:pPr>
              <a:r>
                <a:rPr lang="en-US" sz="3071">
                  <a:solidFill>
                    <a:srgbClr val="1E3054"/>
                  </a:solidFill>
                  <a:latin typeface="Garet"/>
                  <a:ea typeface="Garet"/>
                  <a:cs typeface="Garet"/>
                  <a:sym typeface="Garet"/>
                </a:rPr>
                <a:t>Space Tech for solving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80089" y="1686365"/>
            <a:ext cx="5779211" cy="4696922"/>
          </a:xfrm>
          <a:custGeom>
            <a:avLst/>
            <a:gdLst/>
            <a:ahLst/>
            <a:cxnLst/>
            <a:rect r="r" b="b" t="t" l="l"/>
            <a:pathLst>
              <a:path h="4696922" w="5779211">
                <a:moveTo>
                  <a:pt x="0" y="0"/>
                </a:moveTo>
                <a:lnTo>
                  <a:pt x="5779211" y="0"/>
                </a:lnTo>
                <a:lnTo>
                  <a:pt x="5779211" y="4696923"/>
                </a:lnTo>
                <a:lnTo>
                  <a:pt x="0" y="4696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294736"/>
            <a:ext cx="9486495" cy="28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2"/>
              </a:lnSpc>
            </a:pPr>
            <a:r>
              <a:rPr lang="en-US" b="true" sz="905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SOLID WASTE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83625"/>
            <a:ext cx="14162459" cy="273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3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Name: Resonance</a:t>
            </a:r>
          </a:p>
          <a:p>
            <a:pPr algn="just">
              <a:lnSpc>
                <a:spcPts val="5503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Leader’s Name: Malvika Dubey</a:t>
            </a:r>
          </a:p>
          <a:p>
            <a:pPr algn="just">
              <a:lnSpc>
                <a:spcPts val="5504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Members: Malvika Dubey,</a:t>
            </a: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 Dhiya Krishna, Imdad Aqueel</a:t>
            </a:r>
          </a:p>
          <a:p>
            <a:pPr algn="just">
              <a:lnSpc>
                <a:spcPts val="5503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Institution: REVA University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17163" y="3322785"/>
            <a:ext cx="6190092" cy="4126728"/>
          </a:xfrm>
          <a:custGeom>
            <a:avLst/>
            <a:gdLst/>
            <a:ahLst/>
            <a:cxnLst/>
            <a:rect r="r" b="b" t="t" l="l"/>
            <a:pathLst>
              <a:path h="4126728" w="6190092">
                <a:moveTo>
                  <a:pt x="0" y="0"/>
                </a:moveTo>
                <a:lnTo>
                  <a:pt x="6190092" y="0"/>
                </a:lnTo>
                <a:lnTo>
                  <a:pt x="6190092" y="4126728"/>
                </a:lnTo>
                <a:lnTo>
                  <a:pt x="0" y="4126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8360" y="904875"/>
            <a:ext cx="8691280" cy="100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57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214" y="2429325"/>
            <a:ext cx="10781835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Beng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aluru generates over 5,000 tonnes of municipal solid waste daily, yet illegal dumping persists across peri-urban areas, lakebeds, and vacant layouts. These unmonitored dump sites release methane, contaminate soil and groundwater, and result in the loss of valuable recyclable materials.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Current systems rely on citizen complaints, manual inspections, and fixed-route waste collection, leading to delayed response, reactive management, and inefficient mixed-waste transportation.</a:t>
            </a:r>
          </a:p>
          <a:p>
            <a:pPr algn="just">
              <a:lnSpc>
                <a:spcPts val="33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5214" y="1909905"/>
            <a:ext cx="1802011" cy="44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214" y="5796740"/>
            <a:ext cx="3350062" cy="44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</a:t>
            </a: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rgency/Relevance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560" y="6292655"/>
            <a:ext cx="11075489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Mixed waste transport increases fuel wastage, carbon emissions, and reduces material recovery value, while the lack of intelligent pre-collection segregation limits efficient routing and resource recovery.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Absence of space-enabled, real-time ward-level monitoring prevents proactive detection of illegal dumping, and rapid urban expansion demands scalable, data-driven waste management solutions.</a:t>
            </a:r>
          </a:p>
          <a:p>
            <a:pPr algn="just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41210" y="722559"/>
            <a:ext cx="8691280" cy="100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57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109" y="5348676"/>
            <a:ext cx="8652085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Satellite Detection: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Identifies illegal dumping hotspots using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open-source imagery.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Waste Classification: Segregates waste into Organic, Recyclable, Hazardous, and Residual categories.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Volume Estimation: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Predicts waste scale and composition at each site.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art Vehicle Assignment: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Optimized routing dispatches the correct collection vehicle.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 Traceability: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Connects detection → classification → collection → recovery.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13097" y="5462139"/>
            <a:ext cx="7638785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Early detection of illegal dumping, reducing landfill dependency and improving material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recovery rates.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Lower greenhouse g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emissions and fuel usage through intelligent waste segregation and optimized routing.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End-to-end digital accountability, linking detection → classification → collection to enable traceable resource recovery.</a:t>
            </a:r>
          </a:p>
          <a:p>
            <a:pPr algn="just">
              <a:lnSpc>
                <a:spcPts val="33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99399" y="1886646"/>
            <a:ext cx="17099590" cy="1269831"/>
            <a:chOff x="0" y="0"/>
            <a:chExt cx="4511064" cy="334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11065" cy="334996"/>
            </a:xfrm>
            <a:custGeom>
              <a:avLst/>
              <a:gdLst/>
              <a:ahLst/>
              <a:cxnLst/>
              <a:rect r="r" b="b" t="t" l="l"/>
              <a:pathLst>
                <a:path h="334996" w="4511065">
                  <a:moveTo>
                    <a:pt x="23090" y="0"/>
                  </a:moveTo>
                  <a:lnTo>
                    <a:pt x="4487974" y="0"/>
                  </a:lnTo>
                  <a:cubicBezTo>
                    <a:pt x="4500726" y="0"/>
                    <a:pt x="4511065" y="10338"/>
                    <a:pt x="4511065" y="23090"/>
                  </a:cubicBezTo>
                  <a:lnTo>
                    <a:pt x="4511065" y="311905"/>
                  </a:lnTo>
                  <a:cubicBezTo>
                    <a:pt x="4511065" y="324658"/>
                    <a:pt x="4500726" y="334996"/>
                    <a:pt x="4487974" y="334996"/>
                  </a:cubicBezTo>
                  <a:lnTo>
                    <a:pt x="23090" y="334996"/>
                  </a:lnTo>
                  <a:cubicBezTo>
                    <a:pt x="10338" y="334996"/>
                    <a:pt x="0" y="324658"/>
                    <a:pt x="0" y="311905"/>
                  </a:cubicBezTo>
                  <a:lnTo>
                    <a:pt x="0" y="23090"/>
                  </a:lnTo>
                  <a:cubicBezTo>
                    <a:pt x="0" y="10338"/>
                    <a:pt x="10338" y="0"/>
                    <a:pt x="23090" y="0"/>
                  </a:cubicBezTo>
                  <a:close/>
                </a:path>
              </a:pathLst>
            </a:custGeom>
            <a:solidFill>
              <a:srgbClr val="D3E8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11064" cy="373096"/>
            </a:xfrm>
            <a:prstGeom prst="rect">
              <a:avLst/>
            </a:prstGeom>
          </p:spPr>
          <p:txBody>
            <a:bodyPr anchor="ctr" rtlCol="false" tIns="50716" lIns="50716" bIns="50716" rIns="50716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52490" y="1890699"/>
            <a:ext cx="15668720" cy="118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3"/>
              </a:lnSpc>
            </a:pPr>
            <a:r>
              <a:rPr lang="en-US" b="true" sz="2995" spc="-1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OrbitClean – Space-Enabled Waste Intelligence for Circular Economy and Illegal Waste Dumping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6323" y="4738262"/>
            <a:ext cx="4168734" cy="51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Expected Outcomes: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614437"/>
            <a:ext cx="3439947" cy="51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" y="3299352"/>
            <a:ext cx="1628033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Leveraging AI for waste classification and intelligent routing, OrbitClean provides advanced monitoring</a:t>
            </a: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solutions to tackle illegal waste dumping and promote a circular economy at the ward level.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0517" y="904875"/>
            <a:ext cx="14926965" cy="100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57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TECHNOLOGY USED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65702" y="2433976"/>
            <a:ext cx="7655467" cy="6824324"/>
            <a:chOff x="0" y="0"/>
            <a:chExt cx="10207289" cy="909909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207289" cy="925022"/>
              <a:chOff x="0" y="0"/>
              <a:chExt cx="2016255" cy="18272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16255" cy="182720"/>
              </a:xfrm>
              <a:custGeom>
                <a:avLst/>
                <a:gdLst/>
                <a:ahLst/>
                <a:cxnLst/>
                <a:rect r="r" b="b" t="t" l="l"/>
                <a:pathLst>
                  <a:path h="182720" w="2016255">
                    <a:moveTo>
                      <a:pt x="0" y="0"/>
                    </a:moveTo>
                    <a:lnTo>
                      <a:pt x="2016255" y="0"/>
                    </a:lnTo>
                    <a:lnTo>
                      <a:pt x="2016255" y="182720"/>
                    </a:lnTo>
                    <a:lnTo>
                      <a:pt x="0" y="182720"/>
                    </a:lnTo>
                    <a:close/>
                  </a:path>
                </a:pathLst>
              </a:custGeom>
              <a:solidFill>
                <a:srgbClr val="D3E8EE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016255" cy="220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119603"/>
              <a:ext cx="10207289" cy="7979496"/>
              <a:chOff x="0" y="0"/>
              <a:chExt cx="2016255" cy="157619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16255" cy="1576197"/>
              </a:xfrm>
              <a:custGeom>
                <a:avLst/>
                <a:gdLst/>
                <a:ahLst/>
                <a:cxnLst/>
                <a:rect r="r" b="b" t="t" l="l"/>
                <a:pathLst>
                  <a:path h="1576197" w="2016255">
                    <a:moveTo>
                      <a:pt x="0" y="0"/>
                    </a:moveTo>
                    <a:lnTo>
                      <a:pt x="2016255" y="0"/>
                    </a:lnTo>
                    <a:lnTo>
                      <a:pt x="2016255" y="1576197"/>
                    </a:lnTo>
                    <a:lnTo>
                      <a:pt x="0" y="1576197"/>
                    </a:lnTo>
                    <a:close/>
                  </a:path>
                </a:pathLst>
              </a:custGeom>
              <a:solidFill>
                <a:srgbClr val="73969F">
                  <a:alpha val="48627"/>
                </a:srgbClr>
              </a:solidFill>
              <a:ln w="38100" cap="sq">
                <a:solidFill>
                  <a:srgbClr val="FFFFFF">
                    <a:alpha val="48627"/>
                  </a:srgbClr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016255" cy="1614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8429" y="193815"/>
              <a:ext cx="9870430" cy="6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3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11254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Spac</a:t>
              </a:r>
              <a:r>
                <a:rPr lang="en-US" b="true" sz="2995">
                  <a:solidFill>
                    <a:srgbClr val="11254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 &amp; Geospatial Intelligence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1402" y="3317440"/>
            <a:ext cx="7655467" cy="50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entinel-2 satellite imagery (Copernicus Open Access Hub)</a:t>
            </a:r>
          </a:p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ISRO Bhuvan portal for Indian geospatial layers</a:t>
            </a:r>
          </a:p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Google Earth Engine for satellite data processing</a:t>
            </a:r>
          </a:p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QGIS &amp; GeoPandas for spatial analysis</a:t>
            </a:r>
          </a:p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Ward boundary &amp; road network overlay</a:t>
            </a:r>
          </a:p>
          <a:p>
            <a:pPr algn="l" marL="518160" indent="-259080" lvl="1">
              <a:lnSpc>
                <a:spcPts val="4008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Hotspot mapping for illegal dumping detection</a:t>
            </a:r>
          </a:p>
          <a:p>
            <a:pPr algn="l">
              <a:lnSpc>
                <a:spcPts val="4008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266831" y="2433976"/>
            <a:ext cx="7655467" cy="6824324"/>
            <a:chOff x="0" y="0"/>
            <a:chExt cx="10207289" cy="909909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207289" cy="925022"/>
              <a:chOff x="0" y="0"/>
              <a:chExt cx="2016255" cy="18272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16255" cy="182720"/>
              </a:xfrm>
              <a:custGeom>
                <a:avLst/>
                <a:gdLst/>
                <a:ahLst/>
                <a:cxnLst/>
                <a:rect r="r" b="b" t="t" l="l"/>
                <a:pathLst>
                  <a:path h="182720" w="2016255">
                    <a:moveTo>
                      <a:pt x="0" y="0"/>
                    </a:moveTo>
                    <a:lnTo>
                      <a:pt x="2016255" y="0"/>
                    </a:lnTo>
                    <a:lnTo>
                      <a:pt x="2016255" y="182720"/>
                    </a:lnTo>
                    <a:lnTo>
                      <a:pt x="0" y="182720"/>
                    </a:lnTo>
                    <a:close/>
                  </a:path>
                </a:pathLst>
              </a:custGeom>
              <a:solidFill>
                <a:srgbClr val="D3E8EE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016255" cy="220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119603"/>
              <a:ext cx="10207289" cy="7979496"/>
              <a:chOff x="0" y="0"/>
              <a:chExt cx="2016255" cy="157619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16255" cy="1576197"/>
              </a:xfrm>
              <a:custGeom>
                <a:avLst/>
                <a:gdLst/>
                <a:ahLst/>
                <a:cxnLst/>
                <a:rect r="r" b="b" t="t" l="l"/>
                <a:pathLst>
                  <a:path h="1576197" w="2016255">
                    <a:moveTo>
                      <a:pt x="0" y="0"/>
                    </a:moveTo>
                    <a:lnTo>
                      <a:pt x="2016255" y="0"/>
                    </a:lnTo>
                    <a:lnTo>
                      <a:pt x="2016255" y="1576197"/>
                    </a:lnTo>
                    <a:lnTo>
                      <a:pt x="0" y="1576197"/>
                    </a:lnTo>
                    <a:close/>
                  </a:path>
                </a:pathLst>
              </a:custGeom>
              <a:solidFill>
                <a:srgbClr val="73969F">
                  <a:alpha val="48627"/>
                </a:srgbClr>
              </a:solidFill>
              <a:ln w="38100" cap="sq">
                <a:solidFill>
                  <a:srgbClr val="FFFFFF">
                    <a:alpha val="48627"/>
                  </a:srgbClr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016255" cy="16142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8429" y="193815"/>
              <a:ext cx="9870430" cy="64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3"/>
                </a:lnSpc>
                <a:spcBef>
                  <a:spcPct val="0"/>
                </a:spcBef>
              </a:pPr>
              <a:r>
                <a:rPr lang="en-US" b="true" sz="2995">
                  <a:solidFill>
                    <a:srgbClr val="11254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AI &amp; Int</a:t>
              </a:r>
              <a:r>
                <a:rPr lang="en-US" b="true" sz="2995">
                  <a:solidFill>
                    <a:srgbClr val="11254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elligent Routing System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296728"/>
              <a:ext cx="10207289" cy="5298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Python</a:t>
              </a: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as core development language</a:t>
              </a:r>
            </a:p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YOLOv8 &amp; OpenCV for waste image classification</a:t>
              </a:r>
            </a:p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Scikit-learn for ML modeling</a:t>
              </a:r>
            </a:p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Genetic Algorithm for route optimization</a:t>
              </a:r>
            </a:p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Flask / FastAPI for backend integration</a:t>
              </a:r>
            </a:p>
            <a:p>
              <a:pPr algn="l" marL="518160" indent="-259080" lvl="1">
                <a:lnSpc>
                  <a:spcPts val="4008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Leaflet.js dashboard for map visualization</a:t>
              </a:r>
            </a:p>
            <a:p>
              <a:pPr algn="l">
                <a:lnSpc>
                  <a:spcPts val="4008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52410" y="2150328"/>
            <a:ext cx="10284469" cy="710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1: Data &amp; Detection (Days 1–5)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Collect waste sample images from manual and open-source datasets and download Sentinel-2 satellite data for one selected Bengaluru ward. Identify potential dumping hotspots using satellite imagery and prepare a labeled dataset for AI model training.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2: AI Classification &amp; Clustering (Days 6–9): 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Fine-tune the YOLOv8 model for waste type detection and classify waste into e-waste, organic, dry, and residual categories. Apply K-means clustering to group detected hotspots based on waste type and density.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Routing &amp; Dashboard (Days 10–14):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Implement a basic route optimization algorithm to assign appropriate collection vehicles. Develop a Flask backend to integrate AI and routing modules, and build a simple Leaflet.js dashboard to display hotspots, classified waste types, and optimized routes.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42215" y="1734313"/>
            <a:ext cx="6478386" cy="7686220"/>
          </a:xfrm>
          <a:custGeom>
            <a:avLst/>
            <a:gdLst/>
            <a:ahLst/>
            <a:cxnLst/>
            <a:rect r="r" b="b" t="t" l="l"/>
            <a:pathLst>
              <a:path h="7686220" w="6478386">
                <a:moveTo>
                  <a:pt x="0" y="0"/>
                </a:moveTo>
                <a:lnTo>
                  <a:pt x="6478386" y="0"/>
                </a:lnTo>
                <a:lnTo>
                  <a:pt x="6478386" y="7686220"/>
                </a:lnTo>
                <a:lnTo>
                  <a:pt x="0" y="7686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6088" y="323870"/>
            <a:ext cx="9195825" cy="100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57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PLAN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7297" y="1071689"/>
            <a:ext cx="13213405" cy="203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57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HOW IT ALIGNS WITH THE CHALLENGE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0575" y="3491649"/>
            <a:ext cx="5691932" cy="814361"/>
            <a:chOff x="0" y="0"/>
            <a:chExt cx="1499110" cy="2144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9110" cy="214482"/>
            </a:xfrm>
            <a:custGeom>
              <a:avLst/>
              <a:gdLst/>
              <a:ahLst/>
              <a:cxnLst/>
              <a:rect r="r" b="b" t="t" l="l"/>
              <a:pathLst>
                <a:path h="214482" w="1499110">
                  <a:moveTo>
                    <a:pt x="0" y="0"/>
                  </a:moveTo>
                  <a:lnTo>
                    <a:pt x="1499110" y="0"/>
                  </a:lnTo>
                  <a:lnTo>
                    <a:pt x="1499110" y="214482"/>
                  </a:lnTo>
                  <a:lnTo>
                    <a:pt x="0" y="214482"/>
                  </a:lnTo>
                  <a:close/>
                </a:path>
              </a:pathLst>
            </a:custGeom>
            <a:solidFill>
              <a:srgbClr val="D3E8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99110" cy="2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5671" y="3679375"/>
            <a:ext cx="5061739" cy="39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  <a:spcBef>
                <a:spcPct val="0"/>
              </a:spcBef>
            </a:pPr>
            <a:r>
              <a:rPr lang="en-US" b="true" sz="2395">
                <a:solidFill>
                  <a:srgbClr val="112542"/>
                </a:solidFill>
                <a:latin typeface="Garet Bold"/>
                <a:ea typeface="Garet Bold"/>
                <a:cs typeface="Garet Bold"/>
                <a:sym typeface="Garet Bold"/>
              </a:rPr>
              <a:t>Illegal Dumping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2087" y="3396399"/>
            <a:ext cx="10183901" cy="128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09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Uses open-source satellite imagery to monitor peri-urban regions, lakebeds, and vacant layouts, enabling early identification of emerging waste hotspots and overcoming delayed manual inspections.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52087" y="6234105"/>
            <a:ext cx="10370623" cy="128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09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Machine learning dynamically assigns specialized collection vehicles based on waste type and volume, reducing fuel consumption, operational costs, and carbon emissions compared to fixed-route systems.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52087" y="4816043"/>
            <a:ext cx="10183901" cy="128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09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AI-based image classification segregates waste into electronic, organic, recyclable, and residual streams at source, preventing loss of valuable materials and supporting circular economy goals.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52087" y="7652166"/>
            <a:ext cx="10507213" cy="128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6"/>
              </a:lnSpc>
            </a:pPr>
            <a:r>
              <a:rPr lang="en-US" sz="209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Integrates GPS tracking, geotagged proof-of-collection uploads, and centralized dashboard monitoring to create a traceable and accountable waste management workflow.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0575" y="4910738"/>
            <a:ext cx="5691932" cy="814361"/>
            <a:chOff x="0" y="0"/>
            <a:chExt cx="1499110" cy="2144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110" cy="214482"/>
            </a:xfrm>
            <a:custGeom>
              <a:avLst/>
              <a:gdLst/>
              <a:ahLst/>
              <a:cxnLst/>
              <a:rect r="r" b="b" t="t" l="l"/>
              <a:pathLst>
                <a:path h="214482" w="1499110">
                  <a:moveTo>
                    <a:pt x="0" y="0"/>
                  </a:moveTo>
                  <a:lnTo>
                    <a:pt x="1499110" y="0"/>
                  </a:lnTo>
                  <a:lnTo>
                    <a:pt x="1499110" y="214482"/>
                  </a:lnTo>
                  <a:lnTo>
                    <a:pt x="0" y="214482"/>
                  </a:lnTo>
                  <a:close/>
                </a:path>
              </a:pathLst>
            </a:custGeom>
            <a:solidFill>
              <a:srgbClr val="D3E8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9110" cy="2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48123" y="4909645"/>
            <a:ext cx="5376836" cy="81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  <a:spcBef>
                <a:spcPct val="0"/>
              </a:spcBef>
            </a:pPr>
            <a:r>
              <a:rPr lang="en-US" b="true" sz="2395">
                <a:solidFill>
                  <a:srgbClr val="112542"/>
                </a:solidFill>
                <a:latin typeface="Garet Bold"/>
                <a:ea typeface="Garet Bold"/>
                <a:cs typeface="Garet Bold"/>
                <a:sym typeface="Garet Bold"/>
              </a:rPr>
              <a:t>Intelligent Segregation &amp; Recycling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0575" y="6325174"/>
            <a:ext cx="5691932" cy="814361"/>
            <a:chOff x="0" y="0"/>
            <a:chExt cx="1499110" cy="2144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9110" cy="214482"/>
            </a:xfrm>
            <a:custGeom>
              <a:avLst/>
              <a:gdLst/>
              <a:ahLst/>
              <a:cxnLst/>
              <a:rect r="r" b="b" t="t" l="l"/>
              <a:pathLst>
                <a:path h="214482" w="1499110">
                  <a:moveTo>
                    <a:pt x="0" y="0"/>
                  </a:moveTo>
                  <a:lnTo>
                    <a:pt x="1499110" y="0"/>
                  </a:lnTo>
                  <a:lnTo>
                    <a:pt x="1499110" y="214482"/>
                  </a:lnTo>
                  <a:lnTo>
                    <a:pt x="0" y="214482"/>
                  </a:lnTo>
                  <a:close/>
                </a:path>
              </a:pathLst>
            </a:custGeom>
            <a:solidFill>
              <a:srgbClr val="D3E8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99110" cy="2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05671" y="6512900"/>
            <a:ext cx="5061739" cy="39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  <a:spcBef>
                <a:spcPct val="0"/>
              </a:spcBef>
            </a:pPr>
            <a:r>
              <a:rPr lang="en-US" b="true" sz="2395">
                <a:solidFill>
                  <a:srgbClr val="112542"/>
                </a:solidFill>
                <a:latin typeface="Garet Bold"/>
                <a:ea typeface="Garet Bold"/>
                <a:cs typeface="Garet Bold"/>
                <a:sym typeface="Garet Bold"/>
              </a:rPr>
              <a:t>Smart Route Optimization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90575" y="7739609"/>
            <a:ext cx="5691932" cy="814361"/>
            <a:chOff x="0" y="0"/>
            <a:chExt cx="1499110" cy="2144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9110" cy="214482"/>
            </a:xfrm>
            <a:custGeom>
              <a:avLst/>
              <a:gdLst/>
              <a:ahLst/>
              <a:cxnLst/>
              <a:rect r="r" b="b" t="t" l="l"/>
              <a:pathLst>
                <a:path h="214482" w="1499110">
                  <a:moveTo>
                    <a:pt x="0" y="0"/>
                  </a:moveTo>
                  <a:lnTo>
                    <a:pt x="1499110" y="0"/>
                  </a:lnTo>
                  <a:lnTo>
                    <a:pt x="1499110" y="214482"/>
                  </a:lnTo>
                  <a:lnTo>
                    <a:pt x="0" y="214482"/>
                  </a:lnTo>
                  <a:close/>
                </a:path>
              </a:pathLst>
            </a:custGeom>
            <a:solidFill>
              <a:srgbClr val="D3E8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99110" cy="25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05671" y="7927335"/>
            <a:ext cx="5061739" cy="39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  <a:spcBef>
                <a:spcPct val="0"/>
              </a:spcBef>
            </a:pPr>
            <a:r>
              <a:rPr lang="en-US" b="true" sz="2395">
                <a:solidFill>
                  <a:srgbClr val="112542"/>
                </a:solidFill>
                <a:latin typeface="Garet Bold"/>
                <a:ea typeface="Garet Bold"/>
                <a:cs typeface="Garet Bold"/>
                <a:sym typeface="Garet Bold"/>
              </a:rPr>
              <a:t>Transparency &amp; Accountability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284686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43237">
            <a:off x="-2074981" y="-79793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00236">
            <a:off x="13481615" y="6819827"/>
            <a:ext cx="7127029" cy="4114800"/>
          </a:xfrm>
          <a:custGeom>
            <a:avLst/>
            <a:gdLst/>
            <a:ahLst/>
            <a:cxnLst/>
            <a:rect r="r" b="b" t="t" l="l"/>
            <a:pathLst>
              <a:path h="4114800" w="7127029">
                <a:moveTo>
                  <a:pt x="0" y="0"/>
                </a:moveTo>
                <a:lnTo>
                  <a:pt x="7127029" y="0"/>
                </a:lnTo>
                <a:lnTo>
                  <a:pt x="7127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7297" y="4105592"/>
            <a:ext cx="13213405" cy="186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</a:pPr>
            <a:r>
              <a:rPr lang="en-US" b="true" sz="108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87772" y="307544"/>
            <a:ext cx="1032736" cy="1162010"/>
          </a:xfrm>
          <a:custGeom>
            <a:avLst/>
            <a:gdLst/>
            <a:ahLst/>
            <a:cxnLst/>
            <a:rect r="r" b="b" t="t" l="l"/>
            <a:pathLst>
              <a:path h="1162010" w="1032736">
                <a:moveTo>
                  <a:pt x="0" y="0"/>
                </a:moveTo>
                <a:lnTo>
                  <a:pt x="1032737" y="0"/>
                </a:lnTo>
                <a:lnTo>
                  <a:pt x="1032737" y="1162010"/>
                </a:lnTo>
                <a:lnTo>
                  <a:pt x="0" y="1162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DAHC5Tds-ng</dc:identifier>
  <dcterms:modified xsi:type="dcterms:W3CDTF">2011-08-01T06:04:30Z</dcterms:modified>
  <cp:revision>1</cp:revision>
  <dc:title>space hack</dc:title>
</cp:coreProperties>
</file>